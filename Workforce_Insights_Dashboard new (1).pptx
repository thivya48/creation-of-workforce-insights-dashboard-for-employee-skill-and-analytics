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75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D9-4827-A22A-CE0C13C6BF38}"/>
              </c:ext>
            </c:extLst>
          </c:dPt>
          <c:dPt>
            <c:idx val="1"/>
            <c:bubble3D val="0"/>
            <c:spPr>
              <a:solidFill>
                <a:srgbClr val="D950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D9-4827-A22A-CE0C13C6BF38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D9-4827-A22A-CE0C13C6BF38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D9-4827-A22A-CE0C13C6BF38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67.69</c:v>
                </c:pt>
                <c:pt idx="1">
                  <c:v>32.31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D9-4827-A22A-CE0C13C6BF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Outliers Flagged</c:v>
                </c:pt>
              </c:strCache>
            </c:strRef>
          </c:tx>
          <c:spPr>
            <a:solidFill>
              <a:srgbClr val="0A75B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Environment
Satisfaction</c:v>
                </c:pt>
                <c:pt idx="1">
                  <c:v>Manager
Rating</c:v>
                </c:pt>
                <c:pt idx="2">
                  <c:v>Relationship
Satisfaction</c:v>
                </c:pt>
                <c:pt idx="3">
                  <c:v>Job Level</c:v>
                </c:pt>
                <c:pt idx="4">
                  <c:v>Performance
Rating</c:v>
                </c:pt>
                <c:pt idx="5">
                  <c:v>Commute
Time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1067</c:v>
                </c:pt>
                <c:pt idx="1">
                  <c:v>853</c:v>
                </c:pt>
                <c:pt idx="2">
                  <c:v>872</c:v>
                </c:pt>
                <c:pt idx="3">
                  <c:v>733</c:v>
                </c:pt>
                <c:pt idx="4">
                  <c:v>595</c:v>
                </c:pt>
                <c:pt idx="5">
                  <c:v>536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5B-4F81-B86C-B8BBF2D6D4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239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1A0-42F0-98FC-8C95BCA4D989}"/>
              </c:ext>
            </c:extLst>
          </c:dPt>
          <c:dPt>
            <c:idx val="1"/>
            <c:invertIfNegative val="0"/>
            <c:bubble3D val="0"/>
            <c:spPr>
              <a:solidFill>
                <a:srgbClr val="0A75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A0-42F0-98FC-8C95BCA4D989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
Regression</c:v>
                </c:pt>
                <c:pt idx="1">
                  <c:v>Random Forest
(Selected)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74.569999999999993</c:v>
                </c:pt>
                <c:pt idx="1">
                  <c:v>75.53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A0-42F0-98FC-8C95BCA4D9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8"/>
          <c:min val="70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239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67-44CD-A120-D5F62A270F6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667-44CD-A120-D5F62A270F6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667-44CD-A120-D5F62A270F6A}"/>
              </c:ext>
            </c:extLst>
          </c:dPt>
          <c:dPt>
            <c:idx val="3"/>
            <c:invertIfNegative val="0"/>
            <c:bubble3D val="0"/>
            <c:spPr>
              <a:solidFill>
                <a:srgbClr val="D950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67-44CD-A120-D5F62A270F6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Random
Forest</c:v>
                </c:pt>
                <c:pt idx="2">
                  <c:v>XGBoost</c:v>
                </c:pt>
                <c:pt idx="3">
                  <c:v>LightGBM
(Selected)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75</c:v>
                </c:pt>
                <c:pt idx="2">
                  <c:v>76</c:v>
                </c:pt>
                <c:pt idx="3">
                  <c:v>79.8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67-44CD-A120-D5F62A270F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4"/>
          <c:min val="65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%</c:v>
                </c:pt>
              </c:strCache>
            </c:strRef>
          </c:tx>
          <c:spPr>
            <a:solidFill>
              <a:srgbClr val="0A75BB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Job Satisfaction</c:v>
                </c:pt>
                <c:pt idx="1">
                  <c:v>Overall Satisfaction Index</c:v>
                </c:pt>
                <c:pt idx="2">
                  <c:v>Overtime</c:v>
                </c:pt>
                <c:pt idx="3">
                  <c:v>Burnout Risk Score</c:v>
                </c:pt>
                <c:pt idx="4">
                  <c:v>Commute Time</c:v>
                </c:pt>
                <c:pt idx="5">
                  <c:v>Absence Rate/Yr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8.2100000000000009</c:v>
                </c:pt>
                <c:pt idx="1">
                  <c:v>6.17</c:v>
                </c:pt>
                <c:pt idx="2">
                  <c:v>5.59</c:v>
                </c:pt>
                <c:pt idx="3">
                  <c:v>4.2</c:v>
                </c:pt>
                <c:pt idx="4">
                  <c:v>4</c:v>
                </c:pt>
                <c:pt idx="5">
                  <c:v>3.56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B9-449F-8FFE-09B4186D9F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623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A2A4D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0A2A4D"/>
                </a:solidFill>
                <a:latin typeface="Arial"/>
              </a:rPr>
              <a:t>Overtime vs. Attrition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</c:v>
                </c:pt>
              </c:strCache>
            </c:strRef>
          </c:tx>
          <c:spPr>
            <a:solidFill>
              <a:srgbClr val="D9503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95-4630-8C97-E292BDE8CDF5}"/>
              </c:ext>
            </c:extLst>
          </c:dPt>
          <c:dPt>
            <c:idx val="1"/>
            <c:invertIfNegative val="0"/>
            <c:bubble3D val="0"/>
            <c:spPr>
              <a:solidFill>
                <a:srgbClr val="0A75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95-4630-8C97-E292BDE8CDF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Overtime = Yes</c:v>
                </c:pt>
                <c:pt idx="1">
                  <c:v>Overtime = 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47.62</c:v>
                </c:pt>
                <c:pt idx="1">
                  <c:v>25.02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95-4630-8C97-E292BDE8CD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A2A4D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0A2A4D"/>
                </a:solidFill>
                <a:latin typeface="Arial"/>
              </a:rPr>
              <a:t>Job Satisfaction vs. Attrition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Satisfaction</c:v>
                </c:pt>
              </c:strCache>
            </c:strRef>
          </c:tx>
          <c:spPr>
            <a:solidFill>
              <a:srgbClr val="D9503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764-405E-8E14-F3CAEBB6559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764-405E-8E14-F3CAEBB6559A}"/>
              </c:ext>
            </c:extLst>
          </c:dPt>
          <c:dPt>
            <c:idx val="2"/>
            <c:invertIfNegative val="0"/>
            <c:bubble3D val="0"/>
            <c:spPr>
              <a:solidFill>
                <a:srgbClr val="0A75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764-405E-8E14-F3CAEBB6559A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Level 1</c:v>
                </c:pt>
                <c:pt idx="1">
                  <c:v>Level 2</c:v>
                </c:pt>
                <c:pt idx="2">
                  <c:v>Level 3-5 (avg)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50.55</c:v>
                </c:pt>
                <c:pt idx="1">
                  <c:v>52.26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64-405E-8E14-F3CAEBB655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6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1.png"/><Relationship Id="rId7" Type="http://schemas.openxmlformats.org/officeDocument/2006/relationships/slide" Target="slide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1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2.xml"/><Relationship Id="rId4" Type="http://schemas.openxmlformats.org/officeDocument/2006/relationships/slide" Target="slid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rishtimishra30/Creation-of-Workforce-Insights-Dashboard-for-Employee-Skill-and-Ana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4" name="Shape 2"/>
          <p:cNvSpPr/>
          <p:nvPr/>
        </p:nvSpPr>
        <p:spPr>
          <a:xfrm>
            <a:off x="4864608" y="50292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/home/claude/work/assets/logo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713232"/>
            <a:ext cx="192024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88920"/>
            <a:ext cx="10725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Creation of Workforce Insights Dashboard for Employee Skill and  Analytics Group 1</a:t>
            </a:r>
            <a:endParaRPr lang="en-US" sz="40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371600" y="43434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Workforce Analytics Platform — Attrition Prediction · Skill-Gap Detection · AI Recommendations · RAG Assistant · Interactive Dashboards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5166360"/>
            <a:ext cx="1400861" cy="384048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166360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Employees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87829" y="5166360"/>
            <a:ext cx="1850746" cy="384048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287829" y="5166360"/>
            <a:ext cx="18507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Engineered Features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39742" y="5166360"/>
            <a:ext cx="1025957" cy="384048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39742" y="5166360"/>
            <a:ext cx="10259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ML Models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566867" y="5166360"/>
            <a:ext cx="1025957" cy="384048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66867" y="5166360"/>
            <a:ext cx="10259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93992" y="5166360"/>
            <a:ext cx="2075688" cy="384048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93992" y="516636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Power BI Dashboards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Program  •  Group 1  •  Complete Project Documentation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4685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6367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is bleeding talent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94767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in three employees leaves the organisation, yet HR only reacts after resignation letters are filed.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761488"/>
            <a:ext cx="384048" cy="384048"/>
          </a:xfrm>
          <a:prstGeom prst="ellipse">
            <a:avLst/>
          </a:prstGeom>
          <a:solidFill>
            <a:srgbClr val="0A75B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292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68833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gaps surface too late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9992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predictive lens, training needs are identified only during performance reviews — long after productivity has suffered.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3813048"/>
            <a:ext cx="384048" cy="384048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is scattered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05079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Attrition, satisfaction, workload and skill data live in disconnected spreadsheets with no single source of truth.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0A75B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479145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grounded decision support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510235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lack an assistant that can combine predictive analytics with the organisation's own policy knowledge.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1691640"/>
            <a:ext cx="4251960" cy="4206240"/>
          </a:xfrm>
          <a:prstGeom prst="roundRect">
            <a:avLst>
              <a:gd name="adj" fmla="val 2609"/>
            </a:avLst>
          </a:prstGeom>
          <a:solidFill>
            <a:srgbClr val="0A2A4D"/>
          </a:solidFill>
          <a:ln/>
          <a:effectLst>
            <a:outerShdw blurRad="1016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724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F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RETENTION METRIC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2148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9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32.3%</a:t>
            </a:r>
            <a:endParaRPr lang="en-US" sz="60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3200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in the dataset have left the organisation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7818120" y="3794760"/>
          <a:ext cx="35661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5074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4088" y="1892808"/>
            <a:ext cx="457200" cy="457200"/>
          </a:xfrm>
          <a:prstGeom prst="ellipse">
            <a:avLst/>
          </a:prstGeom>
          <a:solidFill>
            <a:srgbClr val="0A75B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040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44168" y="18196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Attrition Risk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344168" y="2148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employee's likelihood of leaving using a trained classification model.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074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44768" y="1892808"/>
            <a:ext cx="457200" cy="45720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4476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18196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Skill Gaps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784848" y="2148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employees with functional/skill deficiencies using a proxy risk model.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02920" y="3246120"/>
            <a:ext cx="5074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04088" y="3447288"/>
            <a:ext cx="457200" cy="457200"/>
          </a:xfrm>
          <a:prstGeom prst="ellipse">
            <a:avLst/>
          </a:prstGeom>
          <a:solidFill>
            <a:srgbClr val="0A75B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0408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44168" y="337413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HR Actions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1344168" y="370332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ML probabilities into rule-based, ready-to-execute HR recommendations.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943600" y="3246120"/>
            <a:ext cx="5074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44768" y="3447288"/>
            <a:ext cx="457200" cy="45720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14476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784848" y="337413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Policy Q&amp;A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6784848" y="370332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 RAG chatbot in the organisation's HR knowledge base for instant answers.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502920" y="4800600"/>
            <a:ext cx="5074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04088" y="5001768"/>
            <a:ext cx="457200" cy="457200"/>
          </a:xfrm>
          <a:prstGeom prst="ellipse">
            <a:avLst/>
          </a:prstGeom>
          <a:solidFill>
            <a:srgbClr val="0A75B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04088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344168" y="49286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 Everything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1344168" y="52578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insights through an interactive web dashboard and a Power BI report.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943600" y="4800600"/>
            <a:ext cx="507492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144768" y="5001768"/>
            <a:ext cx="457200" cy="45720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44768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784848" y="492861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Better Decisions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6784848" y="52578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HR a single, data-driven view to prioritise retention and training spend.</a:t>
            </a:r>
            <a:endParaRPr lang="en-US" sz="108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One Connected Pipeline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417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reproducible pipeline turns a raw HR export into predictions, recommendations and dashboards — with no manual hand-off between stages.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24332" y="2103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0A2A4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4332" y="21031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17140" y="2473452"/>
            <a:ext cx="256032" cy="219456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9" name="Shape 6"/>
          <p:cNvSpPr/>
          <p:nvPr/>
        </p:nvSpPr>
        <p:spPr>
          <a:xfrm>
            <a:off x="2991460" y="2103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0A2A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991460" y="21031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84268" y="2473452"/>
            <a:ext cx="256032" cy="219456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2" name="Shape 9"/>
          <p:cNvSpPr/>
          <p:nvPr/>
        </p:nvSpPr>
        <p:spPr>
          <a:xfrm>
            <a:off x="5158588" y="2103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0A75B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58588" y="21031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51396" y="2473452"/>
            <a:ext cx="256032" cy="219456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5" name="Shape 12"/>
          <p:cNvSpPr/>
          <p:nvPr/>
        </p:nvSpPr>
        <p:spPr>
          <a:xfrm>
            <a:off x="7325716" y="2103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D9503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25716" y="21031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18524" y="2473452"/>
            <a:ext cx="256032" cy="219456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8" name="Shape 15"/>
          <p:cNvSpPr/>
          <p:nvPr/>
        </p:nvSpPr>
        <p:spPr>
          <a:xfrm>
            <a:off x="9492844" y="210312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0A2A4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492844" y="210312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68580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Feature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Pandas, NumPy, Jupyter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15 on Supabase (Session Pooler, SSL)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(Random Forest), LightGBM, Joblib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rule-based logic → JSON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/ AI 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+ TF-IDF, BM25, Groq Cloud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/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SQLAlchemy + pg8000, Jinja2, Chart.js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7589520" y="3520440"/>
            <a:ext cx="4114800" cy="2743200"/>
          </a:xfrm>
          <a:prstGeom prst="roundRect">
            <a:avLst>
              <a:gd name="adj" fmla="val 4000"/>
            </a:avLst>
          </a:prstGeom>
          <a:solidFill>
            <a:srgbClr val="0A2A4D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90956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F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909560" y="41148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script-driven pipeline — no manual steps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trusted features feed ML, recommendations &amp; dashboards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actions are generated automatically, not guessed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1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dashboards: web app + Power BI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2395F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12648" y="215798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Employee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(Kaggle)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" y="30632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rows · 32 cols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35808" y="2628900"/>
            <a:ext cx="164592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0" name="Shape 7">
            <a:hlinkClick r:id="rId4" action="ppaction://hlinksldjump"/>
          </p:cNvPr>
          <p:cNvSpPr/>
          <p:nvPr/>
        </p:nvSpPr>
        <p:spPr>
          <a:xfrm>
            <a:off x="3218688" y="20116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2395F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>
            <a:hlinkClick r:id="rId4" action="ppaction://hlinksldjump"/>
          </p:cNvPr>
          <p:cNvSpPr txBox="1"/>
          <p:nvPr/>
        </p:nvSpPr>
        <p:spPr>
          <a:xfrm>
            <a:off x="3328416" y="215798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Cleaning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Feature Engineering</a:t>
            </a:r>
            <a:endParaRPr lang="en-US" sz="1250" dirty="0"/>
          </a:p>
        </p:txBody>
      </p:sp>
      <p:sp>
        <p:nvSpPr>
          <p:cNvPr id="12" name="Text 9">
            <a:hlinkClick r:id="rId4" action="ppaction://hlinksldjump"/>
          </p:cNvPr>
          <p:cNvSpPr txBox="1"/>
          <p:nvPr/>
        </p:nvSpPr>
        <p:spPr>
          <a:xfrm>
            <a:off x="3328416" y="30632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63 columns</a:t>
            </a:r>
            <a:endParaRPr lang="en-US" sz="950" dirty="0"/>
          </a:p>
        </p:txBody>
      </p:sp>
      <p:sp>
        <p:nvSpPr>
          <p:cNvPr id="13" name="Text 10">
            <a:hlinkClick r:id="rId4" action="ppaction://hlinksldjump"/>
          </p:cNvPr>
          <p:cNvSpPr txBox="1"/>
          <p:nvPr/>
        </p:nvSpPr>
        <p:spPr>
          <a:xfrm>
            <a:off x="4818888" y="32095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u="sng" dirty="0">
                <a:solidFill>
                  <a:srgbClr val="F4D7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→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51576" y="2628900"/>
            <a:ext cx="164592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5" name="Shape 12">
            <a:hlinkClick r:id="rId4" action="ppaction://hlinksldjump"/>
          </p:cNvPr>
          <p:cNvSpPr/>
          <p:nvPr/>
        </p:nvSpPr>
        <p:spPr>
          <a:xfrm>
            <a:off x="5934456" y="20116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2395F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3">
            <a:hlinkClick r:id="rId4" action="ppaction://hlinksldjump"/>
          </p:cNvPr>
          <p:cNvSpPr txBox="1"/>
          <p:nvPr/>
        </p:nvSpPr>
        <p:spPr>
          <a:xfrm>
            <a:off x="6044184" y="215798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Database</a:t>
            </a:r>
            <a:endParaRPr lang="en-US" sz="1250" dirty="0"/>
          </a:p>
        </p:txBody>
      </p:sp>
      <p:sp>
        <p:nvSpPr>
          <p:cNvPr id="17" name="Text 14">
            <a:hlinkClick r:id="rId4" action="ppaction://hlinksldjump"/>
          </p:cNvPr>
          <p:cNvSpPr txBox="1"/>
          <p:nvPr/>
        </p:nvSpPr>
        <p:spPr>
          <a:xfrm>
            <a:off x="6044184" y="30632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Supabase</a:t>
            </a:r>
            <a:endParaRPr lang="en-US" sz="950" dirty="0"/>
          </a:p>
        </p:txBody>
      </p:sp>
      <p:sp>
        <p:nvSpPr>
          <p:cNvPr id="18" name="Text 15">
            <a:hlinkClick r:id="rId4" action="ppaction://hlinksldjump"/>
          </p:cNvPr>
          <p:cNvSpPr txBox="1"/>
          <p:nvPr/>
        </p:nvSpPr>
        <p:spPr>
          <a:xfrm>
            <a:off x="7534656" y="32095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u="sng" dirty="0">
                <a:solidFill>
                  <a:srgbClr val="F4D7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→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8467344" y="2628900"/>
            <a:ext cx="164592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20" name="Shape 17">
            <a:hlinkClick r:id="rId5" action="ppaction://hlinksldjump"/>
          </p:cNvPr>
          <p:cNvSpPr/>
          <p:nvPr/>
        </p:nvSpPr>
        <p:spPr>
          <a:xfrm>
            <a:off x="8650224" y="20116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A75BB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8">
            <a:hlinkClick r:id="rId5" action="ppaction://hlinksldjump"/>
          </p:cNvPr>
          <p:cNvSpPr txBox="1"/>
          <p:nvPr/>
        </p:nvSpPr>
        <p:spPr>
          <a:xfrm>
            <a:off x="8759952" y="215798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Models</a:t>
            </a:r>
            <a:endParaRPr lang="en-US" sz="1250" dirty="0"/>
          </a:p>
        </p:txBody>
      </p:sp>
      <p:sp>
        <p:nvSpPr>
          <p:cNvPr id="22" name="Text 19">
            <a:hlinkClick r:id="rId5" action="ppaction://hlinksldjump"/>
          </p:cNvPr>
          <p:cNvSpPr txBox="1"/>
          <p:nvPr/>
        </p:nvSpPr>
        <p:spPr>
          <a:xfrm>
            <a:off x="8759952" y="306324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 Forest · LightGBM</a:t>
            </a:r>
            <a:endParaRPr lang="en-US" sz="950" dirty="0"/>
          </a:p>
        </p:txBody>
      </p:sp>
      <p:sp>
        <p:nvSpPr>
          <p:cNvPr id="23" name="Text 20">
            <a:hlinkClick r:id="rId5" action="ppaction://hlinksldjump"/>
          </p:cNvPr>
          <p:cNvSpPr txBox="1"/>
          <p:nvPr/>
        </p:nvSpPr>
        <p:spPr>
          <a:xfrm>
            <a:off x="10250424" y="32095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u="sng" dirty="0">
                <a:solidFill>
                  <a:srgbClr val="F4D7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→</a:t>
            </a:r>
            <a:endParaRPr lang="en-US" sz="800" dirty="0"/>
          </a:p>
        </p:txBody>
      </p:sp>
      <p:sp>
        <p:nvSpPr>
          <p:cNvPr id="24" name="Shape 21">
            <a:hlinkClick r:id="rId6" action="ppaction://hlinksldjump"/>
          </p:cNvPr>
          <p:cNvSpPr/>
          <p:nvPr/>
        </p:nvSpPr>
        <p:spPr>
          <a:xfrm>
            <a:off x="502920" y="38862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D9503F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2">
            <a:hlinkClick r:id="rId6" action="ppaction://hlinksldjump"/>
          </p:cNvPr>
          <p:cNvSpPr txBox="1"/>
          <p:nvPr/>
        </p:nvSpPr>
        <p:spPr>
          <a:xfrm>
            <a:off x="612648" y="403250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Recommendation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Engine</a:t>
            </a:r>
            <a:endParaRPr lang="en-US" sz="1250" dirty="0"/>
          </a:p>
        </p:txBody>
      </p:sp>
      <p:sp>
        <p:nvSpPr>
          <p:cNvPr id="26" name="Text 23">
            <a:hlinkClick r:id="rId6" action="ppaction://hlinksldjump"/>
          </p:cNvPr>
          <p:cNvSpPr txBox="1"/>
          <p:nvPr/>
        </p:nvSpPr>
        <p:spPr>
          <a:xfrm>
            <a:off x="612648" y="49377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Rule-based JSON</a:t>
            </a:r>
            <a:endParaRPr lang="en-US" sz="950" dirty="0"/>
          </a:p>
        </p:txBody>
      </p:sp>
      <p:sp>
        <p:nvSpPr>
          <p:cNvPr id="27" name="Text 24">
            <a:hlinkClick r:id="rId6" action="ppaction://hlinksldjump"/>
          </p:cNvPr>
          <p:cNvSpPr txBox="1"/>
          <p:nvPr/>
        </p:nvSpPr>
        <p:spPr>
          <a:xfrm>
            <a:off x="2103120" y="5084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u="sng" dirty="0">
                <a:solidFill>
                  <a:srgbClr val="F4D7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→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3035808" y="4503420"/>
            <a:ext cx="164592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29" name="Shape 26">
            <a:hlinkClick r:id="rId7" action="ppaction://hlinksldjump"/>
          </p:cNvPr>
          <p:cNvSpPr/>
          <p:nvPr/>
        </p:nvSpPr>
        <p:spPr>
          <a:xfrm>
            <a:off x="3218688" y="38862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D9503F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Text 27">
            <a:hlinkClick r:id="rId7" action="ppaction://hlinksldjump"/>
          </p:cNvPr>
          <p:cNvSpPr txBox="1"/>
          <p:nvPr/>
        </p:nvSpPr>
        <p:spPr>
          <a:xfrm>
            <a:off x="3328416" y="403250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 Knowledge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Assistant</a:t>
            </a:r>
            <a:endParaRPr lang="en-US" sz="1250" dirty="0"/>
          </a:p>
        </p:txBody>
      </p:sp>
      <p:sp>
        <p:nvSpPr>
          <p:cNvPr id="31" name="Text 28">
            <a:hlinkClick r:id="rId7" action="ppaction://hlinksldjump"/>
          </p:cNvPr>
          <p:cNvSpPr txBox="1"/>
          <p:nvPr/>
        </p:nvSpPr>
        <p:spPr>
          <a:xfrm>
            <a:off x="3328416" y="49377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FAISS + Groq</a:t>
            </a:r>
            <a:endParaRPr lang="en-US" sz="950" dirty="0"/>
          </a:p>
        </p:txBody>
      </p:sp>
      <p:sp>
        <p:nvSpPr>
          <p:cNvPr id="32" name="Text 29">
            <a:hlinkClick r:id="rId7" action="ppaction://hlinksldjump"/>
          </p:cNvPr>
          <p:cNvSpPr txBox="1"/>
          <p:nvPr/>
        </p:nvSpPr>
        <p:spPr>
          <a:xfrm>
            <a:off x="4818888" y="5084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u="sng" dirty="0">
                <a:solidFill>
                  <a:srgbClr val="F4D7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→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751576" y="4503420"/>
            <a:ext cx="164592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34" name="Shape 31">
            <a:hlinkClick r:id="rId8" action="ppaction://hlinksldjump"/>
          </p:cNvPr>
          <p:cNvSpPr/>
          <p:nvPr/>
        </p:nvSpPr>
        <p:spPr>
          <a:xfrm>
            <a:off x="5934456" y="38862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0A75BB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2">
            <a:hlinkClick r:id="rId8" action="ppaction://hlinksldjump"/>
          </p:cNvPr>
          <p:cNvSpPr txBox="1"/>
          <p:nvPr/>
        </p:nvSpPr>
        <p:spPr>
          <a:xfrm>
            <a:off x="6044184" y="4032504"/>
            <a:ext cx="22951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Backend API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Dashboards</a:t>
            </a:r>
            <a:endParaRPr lang="en-US" sz="1250" dirty="0"/>
          </a:p>
        </p:txBody>
      </p:sp>
      <p:sp>
        <p:nvSpPr>
          <p:cNvPr id="36" name="Text 33">
            <a:hlinkClick r:id="rId8" action="ppaction://hlinksldjump"/>
          </p:cNvPr>
          <p:cNvSpPr txBox="1"/>
          <p:nvPr/>
        </p:nvSpPr>
        <p:spPr>
          <a:xfrm>
            <a:off x="6044184" y="49377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 · Power BI</a:t>
            </a:r>
            <a:endParaRPr lang="en-US" sz="950" dirty="0"/>
          </a:p>
        </p:txBody>
      </p:sp>
      <p:sp>
        <p:nvSpPr>
          <p:cNvPr id="37" name="Text 34">
            <a:hlinkClick r:id="rId8" action="ppaction://hlinksldjump"/>
          </p:cNvPr>
          <p:cNvSpPr txBox="1"/>
          <p:nvPr/>
        </p:nvSpPr>
        <p:spPr>
          <a:xfrm>
            <a:off x="7534656" y="5084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u="sng" dirty="0">
                <a:solidFill>
                  <a:srgbClr val="F4D7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→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Shape 0">
            <a:hlinkClick r:id="rId4" action="ppaction://hlinksldjump"/>
          </p:cNvPr>
          <p:cNvSpPr/>
          <p:nvPr/>
        </p:nvSpPr>
        <p:spPr>
          <a:xfrm>
            <a:off x="10042855" y="384048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F6F8FB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4" name="Text 1">
            <a:hlinkClick r:id="rId4" action="ppaction://hlinksldjump"/>
          </p:cNvPr>
          <p:cNvSpPr txBox="1"/>
          <p:nvPr/>
        </p:nvSpPr>
        <p:spPr>
          <a:xfrm>
            <a:off x="10042855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Architecture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Preprocessing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29489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" y="1673352"/>
            <a:ext cx="2948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5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10312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34740" y="1600200"/>
            <a:ext cx="29489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34740" y="1673352"/>
            <a:ext cx="2948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5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→ 63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726180" y="210312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Feature Eng.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514600"/>
            <a:ext cx="29489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2587752"/>
            <a:ext cx="2948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5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01752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34740" y="2514600"/>
            <a:ext cx="29489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34740" y="2587752"/>
            <a:ext cx="2948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75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3726180" y="3017520"/>
            <a:ext cx="2766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36118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workflow: structural inspection → missing-value &amp; duplicate checks → category standardisation → business-rule validation → IQR outlier review → binary encoding.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ENGINEERED FEATURES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4700016"/>
            <a:ext cx="91440" cy="9144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13232" y="45902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burnout_risk_score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+ absence + workload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5029200"/>
            <a:ext cx="91440" cy="9144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13232" y="49194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overall_satisfaction_index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of 4 satisfaction measures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5358384"/>
            <a:ext cx="91440" cy="9144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13232" y="52486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career_stagnation_flag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role tenure, no promotion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2920" y="5687568"/>
            <a:ext cx="91440" cy="9144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13232" y="5577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commute_burden_index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time vs. distance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" y="6016752"/>
            <a:ext cx="91440" cy="91440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13232" y="59070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income_percentile_in_dept  </a:t>
            </a: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rank within department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SCAN — TOP FLAGGED COLUMNS (IQR METHOD)</a:t>
            </a:r>
            <a:endParaRPr lang="en-US" sz="10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6766560" y="1920240"/>
          <a:ext cx="49377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Text 29"/>
          <p:cNvSpPr txBox="1"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values were reviewed and retained as plausible real-world data — none were dropped or capped.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Shape 0">
            <a:hlinkClick r:id="rId4" action="ppaction://hlinksldjump"/>
          </p:cNvPr>
          <p:cNvSpPr/>
          <p:nvPr/>
        </p:nvSpPr>
        <p:spPr>
          <a:xfrm>
            <a:off x="10042855" y="384048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F6F8FB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4" name="Text 1">
            <a:hlinkClick r:id="rId4" action="ppaction://hlinksldjump"/>
          </p:cNvPr>
          <p:cNvSpPr txBox="1"/>
          <p:nvPr/>
        </p:nvSpPr>
        <p:spPr>
          <a:xfrm>
            <a:off x="10042855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Architecture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ATTRITION PREDICTION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783080"/>
          <a:ext cx="5394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217920" y="14630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SKILL-GAP PREDICTION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080760" y="1783080"/>
          <a:ext cx="566928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02920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FEATURES DRIVING ATTRITION</a:t>
            </a:r>
            <a:endParaRPr lang="en-US" sz="105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365760" y="4251960"/>
          <a:ext cx="54864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621792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MODEL — CONFUSION MATRIX (TEST SET, n=3,000)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297680"/>
          <a:ext cx="4206240" cy="1097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Leave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8"/>
          <p:cNvSpPr txBox="1"/>
          <p:nvPr/>
        </p:nvSpPr>
        <p:spPr>
          <a:xfrm>
            <a:off x="621792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</a:t>
            </a: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75.53%     </a:t>
            </a:r>
            <a:r>
              <a:rPr lang="en-US" sz="11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(Leave): </a:t>
            </a: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50" dirty="0"/>
          </a:p>
        </p:txBody>
      </p:sp>
      <p:sp>
        <p:nvSpPr>
          <p:cNvPr id="16" name="Text 9"/>
          <p:cNvSpPr txBox="1"/>
          <p:nvPr/>
        </p:nvSpPr>
        <p:spPr>
          <a:xfrm>
            <a:off x="6217920" y="5852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model measures a synthetic proxy label (tenure, pay, promotion, performance) — a best-available risk indicator until a validated HR skills assessment exists.</a:t>
            </a:r>
            <a:endParaRPr lang="en-US" sz="950" dirty="0"/>
          </a:p>
        </p:txBody>
      </p:sp>
      <p:sp>
        <p:nvSpPr>
          <p:cNvPr id="17" name="Text 1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Shape 0">
            <a:hlinkClick r:id="rId4" action="ppaction://hlinksldjump"/>
          </p:cNvPr>
          <p:cNvSpPr/>
          <p:nvPr/>
        </p:nvSpPr>
        <p:spPr>
          <a:xfrm>
            <a:off x="10042855" y="384048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F6F8FB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4" name="Text 1">
            <a:hlinkClick r:id="rId4" action="ppaction://hlinksldjump"/>
          </p:cNvPr>
          <p:cNvSpPr txBox="1"/>
          <p:nvPr/>
        </p:nvSpPr>
        <p:spPr>
          <a:xfrm>
            <a:off x="10042855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Architecture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Recommendation Engine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ML probabilities into targeted, human-readable HR actions using deterministic, rule-based logic.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6588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0A2A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6588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Probabilities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19476" y="2331720"/>
            <a:ext cx="283464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1" name="Shape 8"/>
          <p:cNvSpPr/>
          <p:nvPr/>
        </p:nvSpPr>
        <p:spPr>
          <a:xfrm>
            <a:off x="3421228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0A75B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21228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 Logic)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54116" y="2331720"/>
            <a:ext cx="283464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4" name="Shape 11"/>
          <p:cNvSpPr/>
          <p:nvPr/>
        </p:nvSpPr>
        <p:spPr>
          <a:xfrm>
            <a:off x="6255868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12395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55868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788756" y="2331720"/>
            <a:ext cx="283464" cy="182880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7" name="Shape 14"/>
          <p:cNvSpPr/>
          <p:nvPr/>
        </p:nvSpPr>
        <p:spPr>
          <a:xfrm>
            <a:off x="9090508" y="1965960"/>
            <a:ext cx="2514600" cy="914400"/>
          </a:xfrm>
          <a:prstGeom prst="roundRect">
            <a:avLst>
              <a:gd name="adj" fmla="val 10000"/>
            </a:avLst>
          </a:prstGeom>
          <a:solidFill>
            <a:srgbClr val="D9503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90508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Instruction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11201400" cy="2651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 Prob &gt; 0.70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flight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1-on-1 &amp; compensation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 Prob &gt; 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flight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interview &amp; workload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Gap &gt; 0.60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skill deficiency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technical upskilling bootcamp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A2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Gap &gt; 0.30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skill deficiency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senior mentor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Shape 0">
            <a:hlinkClick r:id="rId4" action="ppaction://hlinksldjump"/>
          </p:cNvPr>
          <p:cNvSpPr/>
          <p:nvPr/>
        </p:nvSpPr>
        <p:spPr>
          <a:xfrm>
            <a:off x="10042855" y="384048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F6F8FB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4" name="Text 1">
            <a:hlinkClick r:id="rId4" action="ppaction://hlinksldjump"/>
          </p:cNvPr>
          <p:cNvSpPr txBox="1"/>
          <p:nvPr/>
        </p:nvSpPr>
        <p:spPr>
          <a:xfrm>
            <a:off x="10042855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Architecture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Knowledge Assistant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chatbot that answers workforce-policy questions using only the project's own HR knowledge base — and says so when it can't.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19659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2395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1965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Knowledge Base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Markdown docs)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27248" y="2340864"/>
            <a:ext cx="164592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1" name="Shape 8"/>
          <p:cNvSpPr/>
          <p:nvPr/>
        </p:nvSpPr>
        <p:spPr>
          <a:xfrm>
            <a:off x="3310128" y="19659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A75B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01568" y="1965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Chunking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chunks)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34456" y="2340864"/>
            <a:ext cx="164592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4" name="Shape 11"/>
          <p:cNvSpPr/>
          <p:nvPr/>
        </p:nvSpPr>
        <p:spPr>
          <a:xfrm>
            <a:off x="6117336" y="19659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2395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08776" y="1965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TF-IDF/FAISS + BM25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741664" y="2340864"/>
            <a:ext cx="164592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7" name="Shape 14"/>
          <p:cNvSpPr/>
          <p:nvPr/>
        </p:nvSpPr>
        <p:spPr>
          <a:xfrm>
            <a:off x="8924544" y="19659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A75B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15984" y="1965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(RRF)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3136392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2395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94360" y="31363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127248" y="3511296"/>
            <a:ext cx="164592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22" name="Shape 19"/>
          <p:cNvSpPr/>
          <p:nvPr/>
        </p:nvSpPr>
        <p:spPr>
          <a:xfrm>
            <a:off x="3310128" y="3136392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A75B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401568" y="31363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34456" y="3511296"/>
            <a:ext cx="164592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25" name="Shape 22"/>
          <p:cNvSpPr/>
          <p:nvPr/>
        </p:nvSpPr>
        <p:spPr>
          <a:xfrm>
            <a:off x="6117336" y="3136392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D9503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08776" y="313639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0292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02920" y="454456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45445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453896" y="4544568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453896" y="4544568"/>
            <a:ext cx="1014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651760" y="4544568"/>
            <a:ext cx="18379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51760" y="4544568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TF-IDF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672584" y="4544568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72584" y="4544568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528816" y="4544568"/>
            <a:ext cx="6035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28816" y="454456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315200" y="4544568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15200" y="4544568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Cloud API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02920" y="5138928"/>
            <a:ext cx="11201400" cy="1188720"/>
          </a:xfrm>
          <a:prstGeom prst="roundRect">
            <a:avLst>
              <a:gd name="adj" fmla="val 7692"/>
            </a:avLst>
          </a:prstGeom>
          <a:solidFill>
            <a:srgbClr val="0A2A4D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822960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GROUNDED, NOT GENERIC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22960" y="5559552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prompt restricts answers strictly to retrieved context, and the model explicitly states when information isn't in the knowledge base — avoiding hallucinated HR policy.</a:t>
            </a:r>
            <a:endParaRPr lang="en-US" sz="115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Shape 0">
            <a:hlinkClick r:id="rId4" action="ppaction://hlinksldjump"/>
          </p:cNvPr>
          <p:cNvSpPr/>
          <p:nvPr/>
        </p:nvSpPr>
        <p:spPr>
          <a:xfrm>
            <a:off x="10042855" y="384048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F6F8FB"/>
          </a:solidFill>
          <a:ln w="9525">
            <a:solidFill>
              <a:srgbClr val="E1E7EF"/>
            </a:solidFill>
            <a:prstDash val="solid"/>
          </a:ln>
        </p:spPr>
      </p:sp>
      <p:sp>
        <p:nvSpPr>
          <p:cNvPr id="4" name="Text 1">
            <a:hlinkClick r:id="rId4" action="ppaction://hlinksldjump"/>
          </p:cNvPr>
          <p:cNvSpPr txBox="1"/>
          <p:nvPr/>
        </p:nvSpPr>
        <p:spPr>
          <a:xfrm>
            <a:off x="10042855" y="3840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  Architecture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Dashboards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71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live Power BI report — three linked pages, six cross-filters, and drill-through KPIs.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284" y="1728216"/>
            <a:ext cx="3721608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38100" dir="5400000" algn="bl" rotWithShape="0">
              <a:srgbClr val="8898A8">
                <a:alpha val="28000"/>
              </a:srgbClr>
            </a:outerShdw>
          </a:effectLst>
        </p:spPr>
      </p:sp>
      <p:pic>
        <p:nvPicPr>
          <p:cNvPr id="9" name="Image 1" descr="/home/claude/work/assets/screens/overvie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8" y="1783080"/>
            <a:ext cx="3611880" cy="20299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95148" y="3941064"/>
            <a:ext cx="118872" cy="118872"/>
          </a:xfrm>
          <a:prstGeom prst="ellipse">
            <a:avLst/>
          </a:prstGeom>
          <a:solidFill>
            <a:srgbClr val="0A75B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96316" y="38679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35044" y="1728216"/>
            <a:ext cx="3721608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38100" dir="5400000" algn="bl" rotWithShape="0">
              <a:srgbClr val="8898A8">
                <a:alpha val="28000"/>
              </a:srgbClr>
            </a:outerShdw>
          </a:effectLst>
        </p:spPr>
      </p:sp>
      <p:pic>
        <p:nvPicPr>
          <p:cNvPr id="13" name="Image 2" descr="/home/claude/work/assets/screens/attrition_ris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9908" y="1783080"/>
            <a:ext cx="3611880" cy="20299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89908" y="3941064"/>
            <a:ext cx="118872" cy="118872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491076" y="38679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&amp; Risk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29804" y="1728216"/>
            <a:ext cx="3721608" cy="2139696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38100" dir="5400000" algn="bl" rotWithShape="0">
              <a:srgbClr val="8898A8">
                <a:alpha val="28000"/>
              </a:srgbClr>
            </a:outerShdw>
          </a:effectLst>
        </p:spPr>
      </p:sp>
      <p:pic>
        <p:nvPicPr>
          <p:cNvPr id="17" name="Image 3" descr="/home/claude/work/assets/screens/dev_wellbein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668" y="1783080"/>
            <a:ext cx="3611880" cy="20299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84668" y="3941064"/>
            <a:ext cx="118872" cy="118872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8285836" y="3867912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Wellbeing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02920" y="4434840"/>
            <a:ext cx="11201400" cy="1600200"/>
          </a:xfrm>
          <a:prstGeom prst="roundRect">
            <a:avLst>
              <a:gd name="adj" fmla="val 5714"/>
            </a:avLst>
          </a:prstGeom>
          <a:solidFill>
            <a:srgbClr val="0A2A4D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22960" y="4599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CROSS-FILTERED ACROSS ALL THREE PAGES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22960" y="4937760"/>
            <a:ext cx="1033272" cy="365760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493776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020824" y="4937760"/>
            <a:ext cx="1336853" cy="365760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2020824" y="4937760"/>
            <a:ext cx="13368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522269" y="4937760"/>
            <a:ext cx="729691" cy="365760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3522269" y="4937760"/>
            <a:ext cx="7296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416552" y="4937760"/>
            <a:ext cx="1412748" cy="365760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416552" y="49377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993892" y="4937760"/>
            <a:ext cx="1412748" cy="365760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993892" y="49377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571232" y="4937760"/>
            <a:ext cx="1109167" cy="365760"/>
          </a:xfrm>
          <a:prstGeom prst="roundRect">
            <a:avLst>
              <a:gd name="adj" fmla="val 50000"/>
            </a:avLst>
          </a:prstGeom>
          <a:solidFill>
            <a:srgbClr val="12395F"/>
          </a:solidFill>
          <a:ln w="12700">
            <a:solidFill>
              <a:srgbClr val="2C577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571232" y="4937760"/>
            <a:ext cx="11091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(18–60)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822960" y="53675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D9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</a:t>
            </a:r>
            <a:r>
              <a:rPr lang="en-US" sz="10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executive KPIs, risk donut, attrition-by-tenure trend &amp; narrative read-out.   </a:t>
            </a:r>
            <a:r>
              <a:rPr lang="en-US" sz="1000" b="1" dirty="0">
                <a:solidFill>
                  <a:srgbClr val="D9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&amp; Risk  </a:t>
            </a:r>
            <a:r>
              <a:rPr lang="en-US" sz="10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job level, employment type, burnout &amp; satisfaction cross-analysis.   </a:t>
            </a:r>
            <a:r>
              <a:rPr lang="en-US" sz="1000" b="1" dirty="0">
                <a:solidFill>
                  <a:srgbClr val="D9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Wellbeing  </a:t>
            </a:r>
            <a:r>
              <a:rPr lang="en-US" sz="10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stagnation, training hours, absence and a live flight-risk watchlist.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02920" y="61722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FastAPI + Chart.js web app additionally exposes 7 pages — Dashboard, Employees, Employee Details, Attrition Analysis, Skill Gap Matrix, ML Simulator and AI Recommendations — for live, code-driven access to the same models.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hi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317175" y="5715000"/>
            <a:ext cx="1600200" cy="101727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23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Impact</a:t>
            </a:r>
            <a:endParaRPr lang="en-US" sz="3200" dirty="0"/>
          </a:p>
        </p:txBody>
      </p:sp>
      <p:sp>
        <p:nvSpPr>
          <p:cNvPr id="6" name="Shape 3">
            <a:hlinkClick r:id="rId4" action="ppaction://hlinksldjump"/>
          </p:cNvPr>
          <p:cNvSpPr/>
          <p:nvPr/>
        </p:nvSpPr>
        <p:spPr>
          <a:xfrm>
            <a:off x="502920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7" name="Text 4">
            <a:hlinkClick r:id="rId4" action="ppaction://hlinksldjump"/>
          </p:cNvPr>
          <p:cNvSpPr txBox="1"/>
          <p:nvPr/>
        </p:nvSpPr>
        <p:spPr>
          <a:xfrm>
            <a:off x="502920" y="19385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0A75BB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75.53%</a:t>
            </a:r>
            <a:endParaRPr lang="en-US" sz="2800" dirty="0"/>
          </a:p>
        </p:txBody>
      </p:sp>
      <p:sp>
        <p:nvSpPr>
          <p:cNvPr id="8" name="Text 5">
            <a:hlinkClick r:id="rId4" action="ppaction://hlinksldjump"/>
          </p:cNvPr>
          <p:cNvSpPr txBox="1"/>
          <p:nvPr/>
        </p:nvSpPr>
        <p:spPr>
          <a:xfrm>
            <a:off x="594360" y="25237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Attrition Model Accuracy</a:t>
            </a:r>
            <a:endParaRPr lang="en-US" sz="1050" dirty="0"/>
          </a:p>
        </p:txBody>
      </p:sp>
      <p:sp>
        <p:nvSpPr>
          <p:cNvPr id="9" name="Text 6">
            <a:hlinkClick r:id="rId4" action="ppaction://hlinksldjump"/>
          </p:cNvPr>
          <p:cNvSpPr txBox="1"/>
          <p:nvPr/>
        </p:nvSpPr>
        <p:spPr>
          <a:xfrm>
            <a:off x="502920" y="28712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details →</a:t>
            </a:r>
            <a:endParaRPr lang="en-US" sz="850" dirty="0"/>
          </a:p>
        </p:txBody>
      </p:sp>
      <p:sp>
        <p:nvSpPr>
          <p:cNvPr id="10" name="Shape 7">
            <a:hlinkClick r:id="rId4" action="ppaction://hlinksldjump"/>
          </p:cNvPr>
          <p:cNvSpPr/>
          <p:nvPr/>
        </p:nvSpPr>
        <p:spPr>
          <a:xfrm>
            <a:off x="3355848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11" name="Text 8">
            <a:hlinkClick r:id="rId4" action="ppaction://hlinksldjump"/>
          </p:cNvPr>
          <p:cNvSpPr txBox="1"/>
          <p:nvPr/>
        </p:nvSpPr>
        <p:spPr>
          <a:xfrm>
            <a:off x="3355848" y="19385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D9503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79.80%</a:t>
            </a:r>
            <a:endParaRPr lang="en-US" sz="2800" dirty="0"/>
          </a:p>
        </p:txBody>
      </p:sp>
      <p:sp>
        <p:nvSpPr>
          <p:cNvPr id="12" name="Text 9">
            <a:hlinkClick r:id="rId4" action="ppaction://hlinksldjump"/>
          </p:cNvPr>
          <p:cNvSpPr txBox="1"/>
          <p:nvPr/>
        </p:nvSpPr>
        <p:spPr>
          <a:xfrm>
            <a:off x="3447288" y="25237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Skill-Gap Model Accuracy</a:t>
            </a:r>
            <a:endParaRPr lang="en-US" sz="1050" dirty="0"/>
          </a:p>
        </p:txBody>
      </p:sp>
      <p:sp>
        <p:nvSpPr>
          <p:cNvPr id="13" name="Text 10">
            <a:hlinkClick r:id="rId4" action="ppaction://hlinksldjump"/>
          </p:cNvPr>
          <p:cNvSpPr txBox="1"/>
          <p:nvPr/>
        </p:nvSpPr>
        <p:spPr>
          <a:xfrm>
            <a:off x="3355848" y="28712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details →</a:t>
            </a:r>
            <a:endParaRPr lang="en-US" sz="850" dirty="0"/>
          </a:p>
        </p:txBody>
      </p:sp>
      <p:sp>
        <p:nvSpPr>
          <p:cNvPr id="14" name="Shape 11">
            <a:hlinkClick r:id="rId5" action="ppaction://hlinksldjump"/>
          </p:cNvPr>
          <p:cNvSpPr/>
          <p:nvPr/>
        </p:nvSpPr>
        <p:spPr>
          <a:xfrm>
            <a:off x="6208776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15" name="Text 12">
            <a:hlinkClick r:id="rId5" action="ppaction://hlinksldjump"/>
          </p:cNvPr>
          <p:cNvSpPr txBox="1"/>
          <p:nvPr/>
        </p:nvSpPr>
        <p:spPr>
          <a:xfrm>
            <a:off x="6208776" y="19385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2395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32.3%</a:t>
            </a:r>
            <a:endParaRPr lang="en-US" sz="2800" dirty="0"/>
          </a:p>
        </p:txBody>
      </p:sp>
      <p:sp>
        <p:nvSpPr>
          <p:cNvPr id="16" name="Text 13">
            <a:hlinkClick r:id="rId5" action="ppaction://hlinksldjump"/>
          </p:cNvPr>
          <p:cNvSpPr txBox="1"/>
          <p:nvPr/>
        </p:nvSpPr>
        <p:spPr>
          <a:xfrm>
            <a:off x="6300216" y="25237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Overall Attrition Rate</a:t>
            </a:r>
            <a:endParaRPr lang="en-US" sz="1050" dirty="0"/>
          </a:p>
        </p:txBody>
      </p:sp>
      <p:sp>
        <p:nvSpPr>
          <p:cNvPr id="17" name="Text 14">
            <a:hlinkClick r:id="rId5" action="ppaction://hlinksldjump"/>
          </p:cNvPr>
          <p:cNvSpPr txBox="1"/>
          <p:nvPr/>
        </p:nvSpPr>
        <p:spPr>
          <a:xfrm>
            <a:off x="6208776" y="28712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details →</a:t>
            </a:r>
            <a:endParaRPr lang="en-US" sz="850" dirty="0"/>
          </a:p>
        </p:txBody>
      </p:sp>
      <p:sp>
        <p:nvSpPr>
          <p:cNvPr id="18" name="Shape 15">
            <a:hlinkClick r:id="rId6" action="ppaction://hlinksldjump"/>
          </p:cNvPr>
          <p:cNvSpPr/>
          <p:nvPr/>
        </p:nvSpPr>
        <p:spPr>
          <a:xfrm>
            <a:off x="9061704" y="18288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8898A8">
                <a:alpha val="18000"/>
              </a:srgbClr>
            </a:outerShdw>
          </a:effectLst>
        </p:spPr>
      </p:sp>
      <p:sp>
        <p:nvSpPr>
          <p:cNvPr id="19" name="Text 16">
            <a:hlinkClick r:id="rId6" action="ppaction://hlinksldjump"/>
          </p:cNvPr>
          <p:cNvSpPr txBox="1"/>
          <p:nvPr/>
        </p:nvSpPr>
        <p:spPr>
          <a:xfrm>
            <a:off x="9061704" y="19385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u="sng" dirty="0">
                <a:solidFill>
                  <a:srgbClr val="12395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15,000</a:t>
            </a:r>
            <a:endParaRPr lang="en-US" sz="2800" dirty="0"/>
          </a:p>
        </p:txBody>
      </p:sp>
      <p:sp>
        <p:nvSpPr>
          <p:cNvPr id="20" name="Text 17">
            <a:hlinkClick r:id="rId6" action="ppaction://hlinksldjump"/>
          </p:cNvPr>
          <p:cNvSpPr txBox="1"/>
          <p:nvPr/>
        </p:nvSpPr>
        <p:spPr>
          <a:xfrm>
            <a:off x="9153144" y="25237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Employees Analysed</a:t>
            </a:r>
            <a:endParaRPr lang="en-US" sz="1050" dirty="0"/>
          </a:p>
        </p:txBody>
      </p:sp>
      <p:sp>
        <p:nvSpPr>
          <p:cNvPr id="21" name="Text 18">
            <a:hlinkClick r:id="rId6" action="ppaction://hlinksldjump"/>
          </p:cNvPr>
          <p:cNvSpPr txBox="1"/>
          <p:nvPr/>
        </p:nvSpPr>
        <p:spPr>
          <a:xfrm>
            <a:off x="9061704" y="28712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details →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3794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ATTRITION DRIVERS (WORK-ARRANGEMENT FACTORS)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365760" y="4069080"/>
          <a:ext cx="35204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4023360" y="4069080"/>
          <a:ext cx="35661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5" name="Shape 20"/>
          <p:cNvSpPr/>
          <p:nvPr/>
        </p:nvSpPr>
        <p:spPr>
          <a:xfrm>
            <a:off x="7818120" y="4069080"/>
            <a:ext cx="3886200" cy="2148840"/>
          </a:xfrm>
          <a:prstGeom prst="roundRect">
            <a:avLst>
              <a:gd name="adj" fmla="val 4255"/>
            </a:avLst>
          </a:prstGeom>
          <a:solidFill>
            <a:srgbClr val="0A2A4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46720" y="4224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046720" y="45262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shows the single largest gap (~22.6 points), and low job satisfaction roughly doubles attrition risk. Leavers also average just ~2 years tenure vs. ~4 for stayers.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8808415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486400" cy="5486400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389120"/>
            <a:ext cx="5029200" cy="5029200"/>
          </a:xfrm>
          <a:prstGeom prst="ellipse">
            <a:avLst/>
          </a:prstGeom>
          <a:solidFill>
            <a:srgbClr val="1239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630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complete, reproducible workforce-analytics pipeline: from a raw 15,000-employee dataset to trained ML models, automated HR recommendations, a grounded RAG assistant, and dual dashboards — giving HR one connected view of attrition and skill risk.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364992"/>
            <a:ext cx="109728" cy="109728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2644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Module 7 explicitly — workforce health scores, talent-risk indicators &amp; confidence-scored learning recommendations, currently only implicit in the pipeline.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02920" y="4078224"/>
            <a:ext cx="109728" cy="109728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77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RAG knowledge base with the organisation's real HR policies, beyond representative templates.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2920" y="4791456"/>
            <a:ext cx="109728" cy="109728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69087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backend, PostgreSQL database and RAG service to a production host with authentication.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5504688"/>
            <a:ext cx="109728" cy="109728"/>
          </a:xfrm>
          <a:prstGeom prst="ellipse">
            <a:avLst/>
          </a:prstGeom>
          <a:solidFill>
            <a:srgbClr val="D950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540410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skill-gap proxy label with a validated, real-world HR skills assessment target.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720840" y="1463040"/>
            <a:ext cx="49834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0" descr="/home/claude/work/assets/logo_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783080"/>
            <a:ext cx="2423160" cy="116128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995160" y="3108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178040" y="36576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Workforce Insights Dashboard for Employee Skill and Analytics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43434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— GROUP 1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995160" y="46451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· Gowtham · Harshitha · Santhosh · Satish · Srishti · Surendhar · Thivya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52120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Program</a:t>
            </a:r>
            <a:endParaRPr lang="en-US" sz="950" dirty="0"/>
          </a:p>
        </p:txBody>
      </p:sp>
      <p:sp>
        <p:nvSpPr>
          <p:cNvPr id="23" name="Text 20">
            <a:hlinkClick r:id="rId4"/>
          </p:cNvPr>
          <p:cNvSpPr txBox="1"/>
          <p:nvPr/>
        </p:nvSpPr>
        <p:spPr>
          <a:xfrm>
            <a:off x="6995160" y="5486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0A75B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github.com/srishtimishra30/Creation-of-Workforce-Insights-Dashboard-for-Employee-Skill-and-Analytics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1371</Words>
  <Application>Microsoft Office PowerPoint</Application>
  <PresentationFormat>Widescreen</PresentationFormat>
  <Paragraphs>277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Creation of Workforce Insights Dashboard for Employee Skill and Analytics</dc:title>
  <dc:subject>PptxGenJS Presentation</dc:subject>
  <dc:creator>Group 1 — Infosys Springboard</dc:creator>
  <cp:lastModifiedBy>Anil Poojari</cp:lastModifiedBy>
  <cp:revision>4</cp:revision>
  <dcterms:created xsi:type="dcterms:W3CDTF">2026-09-13T16:52:30Z</dcterms:created>
  <dcterms:modified xsi:type="dcterms:W3CDTF">2026-09-15T11:22:41Z</dcterms:modified>
</cp:coreProperties>
</file>